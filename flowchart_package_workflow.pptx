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66A34-89AE-4734-9690-0259F58804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0636D-C065-4E90-A176-943B468E14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318D4-9652-4F49-B543-749CAD38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2B78C-852E-44CB-AA05-3A4EE16E8ABD}" type="datetimeFigureOut">
              <a:rPr lang="en-DE" smtClean="0"/>
              <a:t>02/10/2025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04A5D-1F47-4BD0-B483-7E7DCE5FC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67A66-DBB0-412B-85CB-125C91829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15062-33B9-4EE9-8F91-30CA76BC486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27060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43BF1-064A-435F-8FEE-1E01FCE0C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E327-6027-4E85-B82C-9D807B04D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F1E9E-13C9-4F77-BDF6-A39AF1BA9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2B78C-852E-44CB-AA05-3A4EE16E8ABD}" type="datetimeFigureOut">
              <a:rPr lang="en-DE" smtClean="0"/>
              <a:t>02/10/2025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6DF30-463E-4D49-B63C-70108B4E6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531CC-C04C-4E06-8B40-275C58DD5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15062-33B9-4EE9-8F91-30CA76BC486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51858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8E905-8886-4B20-8F94-94FB8BE3E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4F1FC-8DAF-4543-AE17-44392F6F4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515AF-44CE-4846-84DE-6F53A40A0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2B78C-852E-44CB-AA05-3A4EE16E8ABD}" type="datetimeFigureOut">
              <a:rPr lang="en-DE" smtClean="0"/>
              <a:t>02/10/2025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72E9-0BBB-4917-8D98-65063E5ED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74057-F0D8-436C-9FE1-9DDE63FF5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15062-33B9-4EE9-8F91-30CA76BC486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25454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D7D92-CAA6-4B4F-923E-FF9F20722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D1437-717F-45B4-BB82-12FCBD3BCC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E38C7-D27A-499C-9D43-5D8AE1E09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249B7-A445-4751-8326-AC64F086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2B78C-852E-44CB-AA05-3A4EE16E8ABD}" type="datetimeFigureOut">
              <a:rPr lang="en-DE" smtClean="0"/>
              <a:t>02/10/2025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8BEE7F-72F4-4187-983C-A7EEB15A5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759949-9CC4-4583-9C30-5291CC5A4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15062-33B9-4EE9-8F91-30CA76BC486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89791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9B8B1-CB87-4E7E-89AD-9EB20877D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D2F93E-8BB8-4FAA-B250-D8F537679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2CFFB9-088A-4F9E-A797-D095CD93F0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76000E-30BC-4AF4-8499-CDD9237AD9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D6293F-ED87-4919-BC66-BC3160A810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03F88A-AB7C-4DF0-85BB-A61B613F1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2B78C-852E-44CB-AA05-3A4EE16E8ABD}" type="datetimeFigureOut">
              <a:rPr lang="en-DE" smtClean="0"/>
              <a:t>02/10/2025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E284A8-4328-4C3F-8DF9-6E98F29B7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D41B27-EFA5-4F2C-8CD5-C386A702D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15062-33B9-4EE9-8F91-30CA76BC486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15178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D0C13-9E19-4E69-9017-71888E7D0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3C6467-EE95-460A-9121-FFC3EDC28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2B78C-852E-44CB-AA05-3A4EE16E8ABD}" type="datetimeFigureOut">
              <a:rPr lang="en-DE" smtClean="0"/>
              <a:t>02/10/2025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A503DF-7921-4BE3-AC87-3672CB1B9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1D2C0F-C045-46F4-A544-2873BFE7D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15062-33B9-4EE9-8F91-30CA76BC486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89401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A7796C-11D1-43E0-A748-644C5CCC5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2B78C-852E-44CB-AA05-3A4EE16E8ABD}" type="datetimeFigureOut">
              <a:rPr lang="en-DE" smtClean="0"/>
              <a:t>02/10/2025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EFDA5A-A164-4957-934C-29F3C089E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DF0BC-108D-42A5-814C-E6AEA91F3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15062-33B9-4EE9-8F91-30CA76BC486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69994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489BF-2CC0-4622-8121-97228889B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EE2D1-1FF3-4169-8C27-3CB310C5F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947001-7680-4B20-AC13-2F73805008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8E4FC7-5F3F-42E4-B7BC-A109097BF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2B78C-852E-44CB-AA05-3A4EE16E8ABD}" type="datetimeFigureOut">
              <a:rPr lang="en-DE" smtClean="0"/>
              <a:t>02/10/2025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8B205D-3B23-4935-946A-719FDD7F5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41327-5276-44BF-9E7C-2A1C2FE2C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15062-33B9-4EE9-8F91-30CA76BC486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75318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300BA-D0A9-4901-8139-6C6D48BD4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6B0BEF-D7BC-4876-95C4-C803A7632D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D2F702-CDA4-4CAE-A148-25EB390A92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31E452-87D9-4A70-A67B-2076B8E52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2B78C-852E-44CB-AA05-3A4EE16E8ABD}" type="datetimeFigureOut">
              <a:rPr lang="en-DE" smtClean="0"/>
              <a:t>02/10/2025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B07DD7-19D7-47B9-969D-C9B79D0B6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0CC8F-8339-4589-B9C0-0652ED1F2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15062-33B9-4EE9-8F91-30CA76BC486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5183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A88FB-2DE8-4FE0-A529-87D476646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328E6A-E0D8-4312-A146-FBA9B2B5C6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22019-787B-4FCE-8B1D-19758D935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2B78C-852E-44CB-AA05-3A4EE16E8ABD}" type="datetimeFigureOut">
              <a:rPr lang="en-DE" smtClean="0"/>
              <a:t>02/10/2025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23E9E-C314-4B08-BEBF-06984D89E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44A58-8723-4413-994F-00184CB00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15062-33B9-4EE9-8F91-30CA76BC486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15882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C7387B-B222-4805-BCCC-7131A885F9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AB2450-4FA7-4C95-9089-B4AA1DAE4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7BC89-7114-46C5-85E2-3E5FBB764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2B78C-852E-44CB-AA05-3A4EE16E8ABD}" type="datetimeFigureOut">
              <a:rPr lang="en-DE" smtClean="0"/>
              <a:t>02/10/2025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9ACBC-580D-4327-A8B7-5DBF56C9E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C5776-14FB-428D-A9FC-CDDF6A6DA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15062-33B9-4EE9-8F91-30CA76BC486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34989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8AD17F-24D7-49CF-A738-8D4EE978B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36582-D2AD-4C8D-A0C1-31B410D3B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46DC9-D2B8-4ECF-9B9E-A4F524AF40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E2B78C-852E-44CB-AA05-3A4EE16E8ABD}" type="datetimeFigureOut">
              <a:rPr lang="en-DE" smtClean="0"/>
              <a:t>02/10/2025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EBECF-B489-4F66-97D9-EB44F4C378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752E8-9603-4053-88ED-2EB18E5A2D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015062-33B9-4EE9-8F91-30CA76BC486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3604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5DC660-747B-4029-AC99-FB41383C1C7E}"/>
              </a:ext>
            </a:extLst>
          </p:cNvPr>
          <p:cNvSpPr txBox="1"/>
          <p:nvPr/>
        </p:nvSpPr>
        <p:spPr>
          <a:xfrm>
            <a:off x="5060379" y="60888"/>
            <a:ext cx="1078599" cy="2539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Raw Audio</a:t>
            </a:r>
            <a:endParaRPr lang="en-DE" sz="10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93D1E1-BAC5-44D1-B301-CF6E1B91130B}"/>
              </a:ext>
            </a:extLst>
          </p:cNvPr>
          <p:cNvSpPr txBox="1"/>
          <p:nvPr/>
        </p:nvSpPr>
        <p:spPr>
          <a:xfrm>
            <a:off x="4482656" y="406695"/>
            <a:ext cx="2234044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Predict with </a:t>
            </a:r>
            <a:r>
              <a:rPr lang="en-US" sz="1050" b="1" dirty="0" err="1"/>
              <a:t>Autrainer</a:t>
            </a:r>
            <a:endParaRPr lang="en-US" sz="1050" b="1" dirty="0"/>
          </a:p>
          <a:p>
            <a:r>
              <a:rPr lang="en-US" sz="1050" dirty="0">
                <a:latin typeface="Consolas" panose="020B0609020204030204" pitchFamily="49" charset="0"/>
              </a:rPr>
              <a:t>Python: </a:t>
            </a:r>
            <a:r>
              <a:rPr lang="en-US" sz="1050" dirty="0" err="1">
                <a:latin typeface="Consolas" panose="020B0609020204030204" pitchFamily="49" charset="0"/>
              </a:rPr>
              <a:t>autrainer</a:t>
            </a:r>
            <a:r>
              <a:rPr lang="en-US" sz="1050" dirty="0">
                <a:latin typeface="Consolas" panose="020B0609020204030204" pitchFamily="49" charset="0"/>
              </a:rPr>
              <a:t> inference</a:t>
            </a:r>
            <a:endParaRPr lang="en-DE" sz="105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AFE040-708E-4518-B97C-7F7EDD3DC83C}"/>
              </a:ext>
            </a:extLst>
          </p:cNvPr>
          <p:cNvSpPr txBox="1"/>
          <p:nvPr/>
        </p:nvSpPr>
        <p:spPr>
          <a:xfrm>
            <a:off x="4550295" y="928962"/>
            <a:ext cx="2098766" cy="2539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Predictions created by </a:t>
            </a:r>
            <a:r>
              <a:rPr lang="en-US" sz="1050" dirty="0" err="1"/>
              <a:t>Autrainer</a:t>
            </a:r>
            <a:endParaRPr lang="en-DE" sz="10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A484F1-E11B-46E8-9673-C274EA44ED46}"/>
              </a:ext>
            </a:extLst>
          </p:cNvPr>
          <p:cNvSpPr txBox="1"/>
          <p:nvPr/>
        </p:nvSpPr>
        <p:spPr>
          <a:xfrm>
            <a:off x="6935835" y="1717077"/>
            <a:ext cx="2407918" cy="2539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Use uniform confidence score threshold</a:t>
            </a:r>
            <a:endParaRPr lang="en-DE" sz="105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06C0FC-DAED-4154-9906-F05E710EAFA3}"/>
              </a:ext>
            </a:extLst>
          </p:cNvPr>
          <p:cNvSpPr txBox="1"/>
          <p:nvPr/>
        </p:nvSpPr>
        <p:spPr>
          <a:xfrm>
            <a:off x="2153003" y="1474703"/>
            <a:ext cx="2397291" cy="5770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Validate subset of prediction by expert</a:t>
            </a:r>
          </a:p>
          <a:p>
            <a:r>
              <a:rPr lang="en-US" sz="1050" dirty="0" err="1">
                <a:latin typeface="Consolas" panose="020B0609020204030204" pitchFamily="49" charset="0"/>
              </a:rPr>
              <a:t>create_validation_segments</a:t>
            </a:r>
            <a:r>
              <a:rPr lang="en-US" sz="1050" dirty="0">
                <a:latin typeface="Consolas" panose="020B0609020204030204" pitchFamily="49" charset="0"/>
              </a:rPr>
              <a:t>()</a:t>
            </a:r>
          </a:p>
          <a:p>
            <a:r>
              <a:rPr lang="en-US" sz="1050" dirty="0" err="1">
                <a:latin typeface="Consolas" panose="020B0609020204030204" pitchFamily="49" charset="0"/>
              </a:rPr>
              <a:t>run_shiny_app</a:t>
            </a:r>
            <a:r>
              <a:rPr lang="en-US" sz="1050" dirty="0">
                <a:latin typeface="Consolas" panose="020B0609020204030204" pitchFamily="49" charset="0"/>
              </a:rPr>
              <a:t>()</a:t>
            </a:r>
            <a:endParaRPr lang="en-DE" sz="1050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C92077-1C39-440B-97A3-AC42FAAA08A8}"/>
              </a:ext>
            </a:extLst>
          </p:cNvPr>
          <p:cNvSpPr txBox="1"/>
          <p:nvPr/>
        </p:nvSpPr>
        <p:spPr>
          <a:xfrm>
            <a:off x="4702310" y="3873761"/>
            <a:ext cx="1794738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Put in usable format</a:t>
            </a:r>
            <a:br>
              <a:rPr lang="en-US" sz="1050" dirty="0"/>
            </a:br>
            <a:r>
              <a:rPr lang="en-US" sz="1050" dirty="0" err="1">
                <a:latin typeface="Consolas" panose="020B0609020204030204" pitchFamily="49" charset="0"/>
              </a:rPr>
              <a:t>reshape_predictions</a:t>
            </a:r>
            <a:r>
              <a:rPr lang="en-US" sz="1050" dirty="0">
                <a:latin typeface="Consolas" panose="020B0609020204030204" pitchFamily="49" charset="0"/>
              </a:rPr>
              <a:t>()</a:t>
            </a:r>
            <a:endParaRPr lang="en-DE" sz="1050" dirty="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1B93B0-0FC9-41A5-8F5F-32335BF6315A}"/>
              </a:ext>
            </a:extLst>
          </p:cNvPr>
          <p:cNvSpPr txBox="1"/>
          <p:nvPr/>
        </p:nvSpPr>
        <p:spPr>
          <a:xfrm>
            <a:off x="4415019" y="4526271"/>
            <a:ext cx="2369320" cy="900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Spatiotemporal filtering</a:t>
            </a:r>
            <a:br>
              <a:rPr lang="en-US" sz="1050" dirty="0"/>
            </a:br>
            <a:r>
              <a:rPr lang="en-US" sz="1050" dirty="0" err="1"/>
              <a:t>check_spatiotemporal_plausibility</a:t>
            </a:r>
            <a:r>
              <a:rPr lang="en-US" sz="1050" dirty="0"/>
              <a:t>()</a:t>
            </a:r>
          </a:p>
          <a:p>
            <a:r>
              <a:rPr lang="en-US" sz="1050" dirty="0"/>
              <a:t>Flags detections out of range</a:t>
            </a:r>
          </a:p>
          <a:p>
            <a:r>
              <a:rPr lang="en-US" sz="1050" dirty="0"/>
              <a:t>Then decide on what to do with flagged detection</a:t>
            </a:r>
            <a:endParaRPr lang="en-DE" sz="10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B64698-4790-4E1F-8076-0C3986321EE8}"/>
              </a:ext>
            </a:extLst>
          </p:cNvPr>
          <p:cNvSpPr txBox="1"/>
          <p:nvPr/>
        </p:nvSpPr>
        <p:spPr>
          <a:xfrm>
            <a:off x="337852" y="2581334"/>
            <a:ext cx="1557977" cy="2539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Aggregated time series</a:t>
            </a:r>
            <a:endParaRPr lang="en-DE" sz="105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F62D48-DB2F-4698-91DA-8CC3174864E1}"/>
              </a:ext>
            </a:extLst>
          </p:cNvPr>
          <p:cNvSpPr txBox="1"/>
          <p:nvPr/>
        </p:nvSpPr>
        <p:spPr>
          <a:xfrm>
            <a:off x="4850651" y="3221251"/>
            <a:ext cx="1498056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Apply Thresholds</a:t>
            </a:r>
            <a:br>
              <a:rPr lang="en-US" sz="1050" dirty="0"/>
            </a:br>
            <a:r>
              <a:rPr lang="en-US" sz="1050" dirty="0" err="1">
                <a:latin typeface="Consolas" panose="020B0609020204030204" pitchFamily="49" charset="0"/>
              </a:rPr>
              <a:t>apply_thresholds</a:t>
            </a:r>
            <a:r>
              <a:rPr lang="en-US" sz="1050" dirty="0">
                <a:latin typeface="Consolas" panose="020B0609020204030204" pitchFamily="49" charset="0"/>
              </a:rPr>
              <a:t>()</a:t>
            </a:r>
            <a:endParaRPr lang="en-DE" sz="1050" dirty="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60C36C-6B68-40F0-A852-105CDB909763}"/>
              </a:ext>
            </a:extLst>
          </p:cNvPr>
          <p:cNvSpPr txBox="1"/>
          <p:nvPr/>
        </p:nvSpPr>
        <p:spPr>
          <a:xfrm>
            <a:off x="4676501" y="5655844"/>
            <a:ext cx="1846356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Bring data in usable form for further processing</a:t>
            </a:r>
            <a:br>
              <a:rPr lang="en-US" sz="1050" dirty="0"/>
            </a:br>
            <a:r>
              <a:rPr lang="en-US" sz="1050" dirty="0" err="1">
                <a:latin typeface="Consolas" panose="020B0609020204030204" pitchFamily="49" charset="0"/>
              </a:rPr>
              <a:t>predictions_to_iNext</a:t>
            </a:r>
            <a:r>
              <a:rPr lang="en-US" sz="1050" dirty="0">
                <a:latin typeface="Consolas" panose="020B0609020204030204" pitchFamily="49" charset="0"/>
              </a:rPr>
              <a:t>()</a:t>
            </a:r>
          </a:p>
          <a:p>
            <a:r>
              <a:rPr lang="en-US" sz="1050" dirty="0" err="1">
                <a:latin typeface="Consolas" panose="020B0609020204030204" pitchFamily="49" charset="0"/>
              </a:rPr>
              <a:t>Predictions_to_vegan</a:t>
            </a:r>
            <a:r>
              <a:rPr lang="en-US" sz="1050" dirty="0">
                <a:latin typeface="Consolas" panose="020B0609020204030204" pitchFamily="49" charset="0"/>
              </a:rPr>
              <a:t>()</a:t>
            </a:r>
            <a:endParaRPr lang="en-DE" sz="1050" dirty="0">
              <a:latin typeface="Consolas" panose="020B06090202040302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1EC544A-1FAB-467E-858D-FDB0983ACE9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54" t="44952"/>
          <a:stretch/>
        </p:blipFill>
        <p:spPr>
          <a:xfrm>
            <a:off x="9784082" y="0"/>
            <a:ext cx="2407918" cy="238100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3122AA1-1D18-4077-9CDF-58B0EB591916}"/>
              </a:ext>
            </a:extLst>
          </p:cNvPr>
          <p:cNvSpPr txBox="1"/>
          <p:nvPr/>
        </p:nvSpPr>
        <p:spPr>
          <a:xfrm>
            <a:off x="9035402" y="4237730"/>
            <a:ext cx="2902699" cy="5770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Retrieve species range</a:t>
            </a:r>
            <a:br>
              <a:rPr lang="en-US" sz="1050" dirty="0"/>
            </a:br>
            <a:r>
              <a:rPr lang="en-US" sz="1050" dirty="0" err="1">
                <a:latin typeface="Consolas" panose="020B0609020204030204" pitchFamily="49" charset="0"/>
              </a:rPr>
              <a:t>get_records_OrthopteraWeb</a:t>
            </a:r>
            <a:r>
              <a:rPr lang="en-US" sz="1050" dirty="0">
                <a:latin typeface="Consolas" panose="020B0609020204030204" pitchFamily="49" charset="0"/>
              </a:rPr>
              <a:t>()</a:t>
            </a:r>
          </a:p>
          <a:p>
            <a:r>
              <a:rPr lang="en-US" sz="1050" dirty="0" err="1">
                <a:latin typeface="Consolas" panose="020B0609020204030204" pitchFamily="49" charset="0"/>
              </a:rPr>
              <a:t>get_records_INaturalist</a:t>
            </a:r>
            <a:r>
              <a:rPr lang="en-US" sz="1050" dirty="0">
                <a:latin typeface="Consolas" panose="020B0609020204030204" pitchFamily="49" charset="0"/>
              </a:rPr>
              <a:t>()</a:t>
            </a:r>
            <a:endParaRPr lang="en-DE" sz="1050" dirty="0">
              <a:latin typeface="Consolas" panose="020B0609020204030204" pitchFamily="49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B1DC036-6863-4E1C-8823-EC24838964A4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 flipH="1">
            <a:off x="5599679" y="1970993"/>
            <a:ext cx="2540115" cy="12502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EAA2477-A575-40B6-80EE-EB4CA3843FBD}"/>
              </a:ext>
            </a:extLst>
          </p:cNvPr>
          <p:cNvSpPr txBox="1"/>
          <p:nvPr/>
        </p:nvSpPr>
        <p:spPr>
          <a:xfrm>
            <a:off x="3198278" y="2500543"/>
            <a:ext cx="2017522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Set Thresholds with regression</a:t>
            </a:r>
          </a:p>
          <a:p>
            <a:r>
              <a:rPr lang="en-US" sz="1050" dirty="0" err="1">
                <a:latin typeface="Consolas" panose="020B0609020204030204" pitchFamily="49" charset="0"/>
              </a:rPr>
              <a:t>Run_shiny_app</a:t>
            </a:r>
            <a:r>
              <a:rPr lang="en-US" sz="1050" dirty="0">
                <a:latin typeface="Consolas" panose="020B0609020204030204" pitchFamily="49" charset="0"/>
              </a:rPr>
              <a:t>()</a:t>
            </a:r>
            <a:endParaRPr lang="en-DE" sz="1050" dirty="0">
              <a:latin typeface="Consolas" panose="020B0609020204030204" pitchFamily="49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11510CC-6A0D-4126-B712-EAF8751DE7D0}"/>
              </a:ext>
            </a:extLst>
          </p:cNvPr>
          <p:cNvCxnSpPr>
            <a:cxnSpLocks/>
            <a:stCxn id="19" idx="2"/>
            <a:endCxn id="13" idx="0"/>
          </p:cNvCxnSpPr>
          <p:nvPr/>
        </p:nvCxnSpPr>
        <p:spPr>
          <a:xfrm>
            <a:off x="4207039" y="2916041"/>
            <a:ext cx="1392640" cy="3052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7560FF8-ACDB-4C2D-A762-0D44F6C8A8B3}"/>
              </a:ext>
            </a:extLst>
          </p:cNvPr>
          <p:cNvCxnSpPr>
            <a:cxnSpLocks/>
            <a:stCxn id="12" idx="2"/>
            <a:endCxn id="11" idx="1"/>
          </p:cNvCxnSpPr>
          <p:nvPr/>
        </p:nvCxnSpPr>
        <p:spPr>
          <a:xfrm>
            <a:off x="1116841" y="2835250"/>
            <a:ext cx="3298178" cy="2141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7AF46AF-1866-400C-B2A2-E3CE0DCAE428}"/>
              </a:ext>
            </a:extLst>
          </p:cNvPr>
          <p:cNvCxnSpPr>
            <a:cxnSpLocks/>
            <a:stCxn id="15" idx="1"/>
            <a:endCxn id="11" idx="3"/>
          </p:cNvCxnSpPr>
          <p:nvPr/>
        </p:nvCxnSpPr>
        <p:spPr>
          <a:xfrm flipH="1">
            <a:off x="6784339" y="4526271"/>
            <a:ext cx="2251063" cy="4501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97AB477-722E-4163-9233-1E63CF097817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 flipH="1">
            <a:off x="3351649" y="1182878"/>
            <a:ext cx="2248029" cy="2918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B0D53E9-337D-4589-BFAD-58940E3B0F97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 flipH="1">
            <a:off x="1116841" y="2051784"/>
            <a:ext cx="2234808" cy="5295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1AA70E6-42F6-4CDC-9D30-C17465D02B38}"/>
              </a:ext>
            </a:extLst>
          </p:cNvPr>
          <p:cNvCxnSpPr>
            <a:cxnSpLocks/>
            <a:stCxn id="9" idx="2"/>
            <a:endCxn id="19" idx="0"/>
          </p:cNvCxnSpPr>
          <p:nvPr/>
        </p:nvCxnSpPr>
        <p:spPr>
          <a:xfrm>
            <a:off x="3351649" y="2051784"/>
            <a:ext cx="855390" cy="4487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C621048-DA6A-4635-BE9F-9EE43AA2F801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5599678" y="1182878"/>
            <a:ext cx="2540116" cy="5341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072EA22-FEA5-47B1-B429-402F2A8133D9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>
            <a:off x="5599679" y="5426517"/>
            <a:ext cx="0" cy="2293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3161D83-4CA8-40A2-B0CE-F63EAFEAACE2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5599679" y="4289259"/>
            <a:ext cx="0" cy="2370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B1562C9-6230-4EE6-A646-9D1D3C8E978A}"/>
              </a:ext>
            </a:extLst>
          </p:cNvPr>
          <p:cNvCxnSpPr>
            <a:cxnSpLocks/>
            <a:stCxn id="13" idx="2"/>
            <a:endCxn id="10" idx="0"/>
          </p:cNvCxnSpPr>
          <p:nvPr/>
        </p:nvCxnSpPr>
        <p:spPr>
          <a:xfrm>
            <a:off x="5599679" y="3636749"/>
            <a:ext cx="0" cy="2370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AE502A3-5380-4F0D-8CA8-8DE9A8BAC35F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5599678" y="314804"/>
            <a:ext cx="1" cy="918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F0C453E-9BE5-4577-8ADB-75BBA983477B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5599678" y="822193"/>
            <a:ext cx="0" cy="1067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CE6F69F6-9508-42BF-9B13-DAFD2D228073}"/>
              </a:ext>
            </a:extLst>
          </p:cNvPr>
          <p:cNvSpPr txBox="1"/>
          <p:nvPr/>
        </p:nvSpPr>
        <p:spPr>
          <a:xfrm>
            <a:off x="9035402" y="5137976"/>
            <a:ext cx="2902699" cy="5770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Retrieve species temporal phenology</a:t>
            </a:r>
            <a:br>
              <a:rPr lang="en-US" sz="1050" dirty="0"/>
            </a:br>
            <a:r>
              <a:rPr lang="en-US" sz="1050" dirty="0">
                <a:latin typeface="Consolas" panose="020B0609020204030204" pitchFamily="49" charset="0"/>
              </a:rPr>
              <a:t>data(</a:t>
            </a:r>
            <a:r>
              <a:rPr lang="en-US" sz="1050" dirty="0" err="1">
                <a:latin typeface="Consolas" panose="020B0609020204030204" pitchFamily="49" charset="0"/>
              </a:rPr>
              <a:t>temporal_species_phenology</a:t>
            </a:r>
            <a:r>
              <a:rPr lang="en-US" sz="105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/>
              <a:t>Or build own dataset with season and time of day</a:t>
            </a:r>
            <a:endParaRPr lang="en-DE" sz="1050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267818A-C96B-4FAF-BD5F-31F634601D20}"/>
              </a:ext>
            </a:extLst>
          </p:cNvPr>
          <p:cNvCxnSpPr>
            <a:cxnSpLocks/>
            <a:stCxn id="81" idx="1"/>
            <a:endCxn id="11" idx="3"/>
          </p:cNvCxnSpPr>
          <p:nvPr/>
        </p:nvCxnSpPr>
        <p:spPr>
          <a:xfrm flipH="1" flipV="1">
            <a:off x="6784339" y="4976394"/>
            <a:ext cx="2251063" cy="4501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DA54E331-1973-4DA8-B2CA-83FED8572A3C}"/>
              </a:ext>
            </a:extLst>
          </p:cNvPr>
          <p:cNvSpPr txBox="1"/>
          <p:nvPr/>
        </p:nvSpPr>
        <p:spPr>
          <a:xfrm>
            <a:off x="9035402" y="6038222"/>
            <a:ext cx="2902699" cy="5770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Retrieve species with similar stridulation</a:t>
            </a:r>
            <a:br>
              <a:rPr lang="en-US" sz="1050" dirty="0"/>
            </a:br>
            <a:r>
              <a:rPr lang="en-US" sz="1050" dirty="0">
                <a:latin typeface="Consolas" panose="020B0609020204030204" pitchFamily="49" charset="0"/>
              </a:rPr>
              <a:t>data(</a:t>
            </a:r>
            <a:r>
              <a:rPr lang="en-US" sz="1050" dirty="0" err="1">
                <a:latin typeface="Consolas" panose="020B0609020204030204" pitchFamily="49" charset="0"/>
              </a:rPr>
              <a:t>confusable_species</a:t>
            </a:r>
            <a:r>
              <a:rPr lang="en-US" sz="105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/>
              <a:t>Or build own species “confusion table”</a:t>
            </a:r>
            <a:endParaRPr lang="en-DE" sz="1050" dirty="0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0748DAF-9864-482E-8513-B338716D142F}"/>
              </a:ext>
            </a:extLst>
          </p:cNvPr>
          <p:cNvCxnSpPr>
            <a:stCxn id="87" idx="1"/>
          </p:cNvCxnSpPr>
          <p:nvPr/>
        </p:nvCxnSpPr>
        <p:spPr>
          <a:xfrm flipH="1" flipV="1">
            <a:off x="7981950" y="5791200"/>
            <a:ext cx="1053452" cy="5355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9938F30B-C2BD-4F43-BDE6-4CCD5F6A3412}"/>
              </a:ext>
            </a:extLst>
          </p:cNvPr>
          <p:cNvSpPr txBox="1"/>
          <p:nvPr/>
        </p:nvSpPr>
        <p:spPr>
          <a:xfrm>
            <a:off x="7667625" y="5541180"/>
            <a:ext cx="32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?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836189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</Words>
  <Application>Microsoft Office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Consolas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Dominik Arend</dc:creator>
  <cp:lastModifiedBy>Dominik Arend</cp:lastModifiedBy>
  <cp:revision>7</cp:revision>
  <dcterms:created xsi:type="dcterms:W3CDTF">2025-09-04T10:45:42Z</dcterms:created>
  <dcterms:modified xsi:type="dcterms:W3CDTF">2025-10-02T10:14:12Z</dcterms:modified>
</cp:coreProperties>
</file>